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64" r:id="rId11"/>
    <p:sldId id="265" r:id="rId12"/>
    <p:sldId id="272" r:id="rId13"/>
    <p:sldId id="266" r:id="rId14"/>
    <p:sldId id="267" r:id="rId15"/>
    <p:sldId id="268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11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88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0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16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70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61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12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36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01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55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71276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2547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11124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278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95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19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Ensemble Machine Learning for Risk-Based Survival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endParaRPr dirty="0"/>
          </a:p>
          <a:p>
            <a:r>
              <a:rPr lang="en-US" dirty="0"/>
              <a:t>GROUP4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7789" y="624110"/>
            <a:ext cx="7422776" cy="1280890"/>
          </a:xfrm>
        </p:spPr>
        <p:txBody>
          <a:bodyPr>
            <a:normAutofit/>
          </a:bodyPr>
          <a:lstStyle/>
          <a:p>
            <a:r>
              <a:rPr sz="3000" b="1" dirty="0"/>
              <a:t>Motivation &amp; Safety-Critical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Safety-critical systems demand high reliability and low false-negative risk.</a:t>
            </a:r>
          </a:p>
          <a:p>
            <a:r>
              <a:t>Survival prediction supports decision-making under uncertainty.</a:t>
            </a:r>
          </a:p>
          <a:p>
            <a:r>
              <a:t>Single models are unstable in high-risk environments.</a:t>
            </a:r>
          </a:p>
          <a:p>
            <a:r>
              <a:t>Ensemble learning improves robustness and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Dataset &amp;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Titanic survival dataset (binary survival outcome).</a:t>
            </a:r>
          </a:p>
          <a:p>
            <a:r>
              <a:t>Features: Age, Sex, Class, Fare, Family size, Embarked.</a:t>
            </a:r>
          </a:p>
          <a:p>
            <a:r>
              <a:t>Represents real-world risk-based survival scenarios.</a:t>
            </a:r>
          </a:p>
          <a:p>
            <a:r>
              <a:t>Used as a benchmark for safety-aware ML pipelines.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Code: Data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r>
              <a:rPr sz="1200">
                <a:latin typeface="Courier New"/>
              </a:rPr>
              <a:t>import pandas as pd</a:t>
            </a:r>
          </a:p>
          <a:p>
            <a:r>
              <a:rPr sz="1200">
                <a:latin typeface="Courier New"/>
              </a:rPr>
              <a:t>from sklearn.model_selection import train_test_split</a:t>
            </a:r>
          </a:p>
          <a:p>
            <a:r>
              <a:rPr sz="1200">
                <a:latin typeface="Courier New"/>
              </a:rPr>
              <a:t>from sklearn.preprocessing import StandardScaler</a:t>
            </a:r>
          </a:p>
          <a:p>
            <a:endParaRPr sz="1200">
              <a:latin typeface="Courier New"/>
            </a:endParaRPr>
          </a:p>
          <a:p>
            <a:r>
              <a:rPr sz="1200">
                <a:latin typeface="Courier New"/>
              </a:rPr>
              <a:t>df = pd.read_csv("train.csv")</a:t>
            </a:r>
          </a:p>
          <a:p>
            <a:r>
              <a:rPr sz="1200">
                <a:latin typeface="Courier New"/>
              </a:rPr>
              <a:t>df['Age'].fillna(df['Age'].median(), inplace=True)</a:t>
            </a:r>
          </a:p>
          <a:p>
            <a:r>
              <a:rPr sz="1200">
                <a:latin typeface="Courier New"/>
              </a:rPr>
              <a:t>df['Embarked'].fillna(df['Embarked'].mode()[0], inplace=True)</a:t>
            </a:r>
          </a:p>
          <a:p>
            <a:endParaRPr sz="1200">
              <a:latin typeface="Courier New"/>
            </a:endParaRPr>
          </a:p>
          <a:p>
            <a:r>
              <a:rPr sz="1200">
                <a:latin typeface="Courier New"/>
              </a:rPr>
              <a:t>df = pd.get_dummies(df, columns=['Sex', 'Embarked'], drop_first=True)</a:t>
            </a:r>
          </a:p>
          <a:p>
            <a:endParaRPr sz="1200">
              <a:latin typeface="Courier New"/>
            </a:endParaRPr>
          </a:p>
          <a:p>
            <a:r>
              <a:rPr sz="1200">
                <a:latin typeface="Courier New"/>
              </a:rPr>
              <a:t>X = df.drop('Survived', axis=1)</a:t>
            </a:r>
          </a:p>
          <a:p>
            <a:r>
              <a:rPr sz="1200">
                <a:latin typeface="Courier New"/>
              </a:rPr>
              <a:t>y = df['Survived']</a:t>
            </a:r>
          </a:p>
          <a:p>
            <a:endParaRPr sz="1200">
              <a:latin typeface="Courier New"/>
            </a:endParaRPr>
          </a:p>
          <a:p>
            <a:r>
              <a:rPr sz="1200">
                <a:latin typeface="Courier New"/>
              </a:rPr>
              <a:t>X_train, X_test, y_train, y_test = train_test_split(</a:t>
            </a:r>
          </a:p>
          <a:p>
            <a:r>
              <a:rPr sz="1200">
                <a:latin typeface="Courier New"/>
              </a:rPr>
              <a:t>    X, y, test_size=0.2, random_state=42</a:t>
            </a:r>
          </a:p>
          <a:p>
            <a:r>
              <a:rPr sz="1200">
                <a:latin typeface="Courier New"/>
              </a:rPr>
              <a:t>)</a:t>
            </a:r>
          </a:p>
          <a:p>
            <a:endParaRPr sz="1200">
              <a:latin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Code: Individual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2682" y="1819835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200" dirty="0">
                <a:latin typeface="Courier New"/>
              </a:rPr>
              <a:t>from </a:t>
            </a:r>
            <a:r>
              <a:rPr sz="1200" dirty="0" err="1">
                <a:latin typeface="Courier New"/>
              </a:rPr>
              <a:t>sklearn.linear_model</a:t>
            </a:r>
            <a:r>
              <a:rPr sz="1200" dirty="0">
                <a:latin typeface="Courier New"/>
              </a:rPr>
              <a:t> import </a:t>
            </a:r>
            <a:r>
              <a:rPr sz="1200" dirty="0" err="1">
                <a:latin typeface="Courier New"/>
              </a:rPr>
              <a:t>LogisticRegression</a:t>
            </a:r>
            <a:endParaRPr sz="1200" dirty="0">
              <a:latin typeface="Courier New"/>
            </a:endParaRPr>
          </a:p>
          <a:p>
            <a:r>
              <a:rPr sz="1200" dirty="0">
                <a:latin typeface="Courier New"/>
              </a:rPr>
              <a:t>from </a:t>
            </a:r>
            <a:r>
              <a:rPr sz="1200" dirty="0" err="1">
                <a:latin typeface="Courier New"/>
              </a:rPr>
              <a:t>sklearn.tree</a:t>
            </a:r>
            <a:r>
              <a:rPr sz="1200" dirty="0">
                <a:latin typeface="Courier New"/>
              </a:rPr>
              <a:t> import </a:t>
            </a:r>
            <a:r>
              <a:rPr sz="1200" dirty="0" err="1">
                <a:latin typeface="Courier New"/>
              </a:rPr>
              <a:t>DecisionTreeClassifier</a:t>
            </a:r>
            <a:endParaRPr sz="1200" dirty="0">
              <a:latin typeface="Courier New"/>
            </a:endParaRPr>
          </a:p>
          <a:p>
            <a:r>
              <a:rPr sz="1200" dirty="0">
                <a:latin typeface="Courier New"/>
              </a:rPr>
              <a:t>from </a:t>
            </a:r>
            <a:r>
              <a:rPr sz="1200" dirty="0" err="1">
                <a:latin typeface="Courier New"/>
              </a:rPr>
              <a:t>sklearn.ensemble</a:t>
            </a:r>
            <a:r>
              <a:rPr sz="1200" dirty="0">
                <a:latin typeface="Courier New"/>
              </a:rPr>
              <a:t> import </a:t>
            </a:r>
            <a:r>
              <a:rPr sz="1200" dirty="0" err="1">
                <a:latin typeface="Courier New"/>
              </a:rPr>
              <a:t>RandomForestClassifier</a:t>
            </a:r>
            <a:r>
              <a:rPr sz="1200" dirty="0">
                <a:latin typeface="Courier New"/>
              </a:rPr>
              <a:t>, </a:t>
            </a:r>
            <a:r>
              <a:rPr sz="1200" dirty="0" err="1">
                <a:latin typeface="Courier New"/>
              </a:rPr>
              <a:t>GradientBoostingClassifier</a:t>
            </a:r>
            <a:endParaRPr sz="1200" dirty="0">
              <a:latin typeface="Courier New"/>
            </a:endParaRPr>
          </a:p>
          <a:p>
            <a:endParaRPr sz="1200" dirty="0">
              <a:latin typeface="Courier New"/>
            </a:endParaRPr>
          </a:p>
          <a:p>
            <a:r>
              <a:rPr sz="1200" dirty="0" err="1">
                <a:latin typeface="Courier New"/>
              </a:rPr>
              <a:t>lr</a:t>
            </a:r>
            <a:r>
              <a:rPr sz="1200" dirty="0">
                <a:latin typeface="Courier New"/>
              </a:rPr>
              <a:t> = </a:t>
            </a:r>
            <a:r>
              <a:rPr sz="1200" dirty="0" err="1">
                <a:latin typeface="Courier New"/>
              </a:rPr>
              <a:t>LogisticRegression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max_iter</a:t>
            </a:r>
            <a:r>
              <a:rPr sz="1200" dirty="0">
                <a:latin typeface="Courier New"/>
              </a:rPr>
              <a:t>=1000)</a:t>
            </a:r>
          </a:p>
          <a:p>
            <a:r>
              <a:rPr sz="1200" dirty="0">
                <a:latin typeface="Courier New"/>
              </a:rPr>
              <a:t>dt = </a:t>
            </a:r>
            <a:r>
              <a:rPr sz="1200" dirty="0" err="1">
                <a:latin typeface="Courier New"/>
              </a:rPr>
              <a:t>DecisionTreeClassifier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max_depth</a:t>
            </a:r>
            <a:r>
              <a:rPr sz="1200" dirty="0">
                <a:latin typeface="Courier New"/>
              </a:rPr>
              <a:t>=5)</a:t>
            </a:r>
          </a:p>
          <a:p>
            <a:r>
              <a:rPr sz="1200" dirty="0">
                <a:latin typeface="Courier New"/>
              </a:rPr>
              <a:t>rf = </a:t>
            </a:r>
            <a:r>
              <a:rPr sz="1200" dirty="0" err="1">
                <a:latin typeface="Courier New"/>
              </a:rPr>
              <a:t>RandomForestClassifier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n_estimators</a:t>
            </a:r>
            <a:r>
              <a:rPr sz="1200" dirty="0">
                <a:latin typeface="Courier New"/>
              </a:rPr>
              <a:t>=100, </a:t>
            </a:r>
            <a:r>
              <a:rPr sz="1200" dirty="0" err="1">
                <a:latin typeface="Courier New"/>
              </a:rPr>
              <a:t>random_state</a:t>
            </a:r>
            <a:r>
              <a:rPr sz="1200" dirty="0">
                <a:latin typeface="Courier New"/>
              </a:rPr>
              <a:t>=42)</a:t>
            </a:r>
          </a:p>
          <a:p>
            <a:r>
              <a:rPr sz="1200" dirty="0" err="1">
                <a:latin typeface="Courier New"/>
              </a:rPr>
              <a:t>gb</a:t>
            </a:r>
            <a:r>
              <a:rPr sz="1200" dirty="0">
                <a:latin typeface="Courier New"/>
              </a:rPr>
              <a:t> = </a:t>
            </a:r>
            <a:r>
              <a:rPr sz="1200" dirty="0" err="1">
                <a:latin typeface="Courier New"/>
              </a:rPr>
              <a:t>GradientBoostingClassifier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n_estimators</a:t>
            </a:r>
            <a:r>
              <a:rPr sz="1200" dirty="0">
                <a:latin typeface="Courier New"/>
              </a:rPr>
              <a:t>=100, </a:t>
            </a:r>
            <a:r>
              <a:rPr sz="1200" dirty="0" err="1">
                <a:latin typeface="Courier New"/>
              </a:rPr>
              <a:t>random_state</a:t>
            </a:r>
            <a:r>
              <a:rPr sz="1200" dirty="0">
                <a:latin typeface="Courier New"/>
              </a:rPr>
              <a:t>=42)</a:t>
            </a:r>
          </a:p>
          <a:p>
            <a:endParaRPr sz="1200" dirty="0">
              <a:latin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2612" y="624110"/>
            <a:ext cx="6911788" cy="1280890"/>
          </a:xfrm>
        </p:spPr>
        <p:txBody>
          <a:bodyPr>
            <a:normAutofit/>
          </a:bodyPr>
          <a:lstStyle/>
          <a:p>
            <a:r>
              <a:rPr sz="3000" b="1" dirty="0"/>
              <a:t>Code: Ensemble (Voting Classifier)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3718" y="2119090"/>
            <a:ext cx="8229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r>
              <a:rPr sz="1200" dirty="0">
                <a:latin typeface="Courier New"/>
              </a:rPr>
              <a:t>from </a:t>
            </a:r>
            <a:r>
              <a:rPr sz="1200" dirty="0" err="1">
                <a:latin typeface="Courier New"/>
              </a:rPr>
              <a:t>sklearn.ensemble</a:t>
            </a:r>
            <a:r>
              <a:rPr sz="1200" dirty="0">
                <a:latin typeface="Courier New"/>
              </a:rPr>
              <a:t> import </a:t>
            </a:r>
            <a:r>
              <a:rPr sz="1200" dirty="0" err="1">
                <a:latin typeface="Courier New"/>
              </a:rPr>
              <a:t>VotingClassifier</a:t>
            </a:r>
            <a:endParaRPr sz="1200" dirty="0">
              <a:latin typeface="Courier New"/>
            </a:endParaRPr>
          </a:p>
          <a:p>
            <a:endParaRPr sz="1200" dirty="0">
              <a:latin typeface="Courier New"/>
            </a:endParaRPr>
          </a:p>
          <a:p>
            <a:r>
              <a:rPr sz="1200" dirty="0">
                <a:latin typeface="Courier New"/>
              </a:rPr>
              <a:t>ensemble = </a:t>
            </a:r>
            <a:r>
              <a:rPr sz="1200" dirty="0" err="1">
                <a:latin typeface="Courier New"/>
              </a:rPr>
              <a:t>VotingClassifier</a:t>
            </a:r>
            <a:r>
              <a:rPr sz="1200" dirty="0">
                <a:latin typeface="Courier New"/>
              </a:rPr>
              <a:t>(</a:t>
            </a:r>
          </a:p>
          <a:p>
            <a:r>
              <a:rPr sz="1200" dirty="0">
                <a:latin typeface="Courier New"/>
              </a:rPr>
              <a:t>    estimators=[</a:t>
            </a:r>
          </a:p>
          <a:p>
            <a:r>
              <a:rPr sz="1200" dirty="0">
                <a:latin typeface="Courier New"/>
              </a:rPr>
              <a:t>        ('</a:t>
            </a:r>
            <a:r>
              <a:rPr sz="1200" dirty="0" err="1">
                <a:latin typeface="Courier New"/>
              </a:rPr>
              <a:t>lr</a:t>
            </a:r>
            <a:r>
              <a:rPr sz="1200" dirty="0">
                <a:latin typeface="Courier New"/>
              </a:rPr>
              <a:t>', </a:t>
            </a:r>
            <a:r>
              <a:rPr sz="1200" dirty="0" err="1">
                <a:latin typeface="Courier New"/>
              </a:rPr>
              <a:t>lr</a:t>
            </a:r>
            <a:r>
              <a:rPr sz="1200" dirty="0">
                <a:latin typeface="Courier New"/>
              </a:rPr>
              <a:t>),</a:t>
            </a:r>
          </a:p>
          <a:p>
            <a:r>
              <a:rPr sz="1200" dirty="0">
                <a:latin typeface="Courier New"/>
              </a:rPr>
              <a:t>        ('dt', dt),</a:t>
            </a:r>
          </a:p>
          <a:p>
            <a:r>
              <a:rPr sz="1200" dirty="0">
                <a:latin typeface="Courier New"/>
              </a:rPr>
              <a:t>        ('rf', rf),</a:t>
            </a:r>
          </a:p>
          <a:p>
            <a:r>
              <a:rPr sz="1200" dirty="0">
                <a:latin typeface="Courier New"/>
              </a:rPr>
              <a:t>        ('</a:t>
            </a:r>
            <a:r>
              <a:rPr sz="1200" dirty="0" err="1">
                <a:latin typeface="Courier New"/>
              </a:rPr>
              <a:t>gb</a:t>
            </a:r>
            <a:r>
              <a:rPr sz="1200" dirty="0">
                <a:latin typeface="Courier New"/>
              </a:rPr>
              <a:t>', </a:t>
            </a:r>
            <a:r>
              <a:rPr sz="1200" dirty="0" err="1">
                <a:latin typeface="Courier New"/>
              </a:rPr>
              <a:t>gb</a:t>
            </a:r>
            <a:r>
              <a:rPr sz="1200" dirty="0">
                <a:latin typeface="Courier New"/>
              </a:rPr>
              <a:t>)</a:t>
            </a:r>
          </a:p>
          <a:p>
            <a:r>
              <a:rPr sz="1200" dirty="0">
                <a:latin typeface="Courier New"/>
              </a:rPr>
              <a:t>    ],</a:t>
            </a:r>
          </a:p>
          <a:p>
            <a:r>
              <a:rPr sz="1200" dirty="0">
                <a:latin typeface="Courier New"/>
              </a:rPr>
              <a:t>    voting='soft'</a:t>
            </a:r>
          </a:p>
          <a:p>
            <a:r>
              <a:rPr sz="1200" dirty="0">
                <a:latin typeface="Courier New"/>
              </a:rPr>
              <a:t>)</a:t>
            </a:r>
          </a:p>
          <a:p>
            <a:endParaRPr sz="1200" dirty="0">
              <a:latin typeface="Courier New"/>
            </a:endParaRPr>
          </a:p>
          <a:p>
            <a:r>
              <a:rPr sz="1200" dirty="0" err="1">
                <a:latin typeface="Courier New"/>
              </a:rPr>
              <a:t>ensemble.fit</a:t>
            </a:r>
            <a:r>
              <a:rPr sz="1200" dirty="0">
                <a:latin typeface="Courier New"/>
              </a:rPr>
              <a:t>(</a:t>
            </a:r>
            <a:r>
              <a:rPr sz="1200" dirty="0" err="1">
                <a:latin typeface="Courier New"/>
              </a:rPr>
              <a:t>X_train</a:t>
            </a:r>
            <a:r>
              <a:rPr sz="1200" dirty="0">
                <a:latin typeface="Courier New"/>
              </a:rPr>
              <a:t>, </a:t>
            </a:r>
            <a:r>
              <a:rPr sz="1200" dirty="0" err="1">
                <a:latin typeface="Courier New"/>
              </a:rPr>
              <a:t>y_train</a:t>
            </a:r>
            <a:r>
              <a:rPr sz="1200" dirty="0">
                <a:latin typeface="Courier New"/>
              </a:rPr>
              <a:t>)</a:t>
            </a:r>
          </a:p>
          <a:p>
            <a:endParaRPr sz="1200" dirty="0">
              <a:latin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Mathematical Foundation: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Probability of survival:</a:t>
            </a:r>
          </a:p>
          <a:p>
            <a:r>
              <a:rPr dirty="0"/>
              <a:t>P(y=1|x) = 1 / (1 + e^{-(β₀ + βᵀx)})</a:t>
            </a:r>
          </a:p>
          <a:p>
            <a:r>
              <a:rPr dirty="0"/>
              <a:t>Decision rule: classify as survivor if P(y=1|x) ≥ τ</a:t>
            </a:r>
          </a:p>
          <a:p>
            <a:r>
              <a:rPr dirty="0"/>
              <a:t>τ is risk threshold (adjusted for safety).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Mathematical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Soft voting combines predicted probabilities:</a:t>
            </a:r>
          </a:p>
          <a:p>
            <a:r>
              <a:rPr dirty="0" err="1"/>
              <a:t>P_ensemble</a:t>
            </a:r>
            <a:r>
              <a:rPr dirty="0"/>
              <a:t>(y=1|x) = (1/M) Σᵢ Pᵢ(y=1|x)</a:t>
            </a:r>
          </a:p>
          <a:p>
            <a:r>
              <a:rPr dirty="0"/>
              <a:t>M = number of models in ensemble.</a:t>
            </a:r>
          </a:p>
          <a:p>
            <a:r>
              <a:rPr dirty="0"/>
              <a:t>Reduces variance and model-specific bias.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Mathematical Foundation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F39C0CC-ABCD-41A5-BD24-CC409D6D32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7035" y="1905000"/>
            <a:ext cx="5638800" cy="432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71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Evaluation Metrics (Risk-Oriented)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Accuracy = (TP + TN) / (TP + TN + FP + FN)</a:t>
            </a:r>
          </a:p>
          <a:p>
            <a:r>
              <a:rPr dirty="0"/>
              <a:t>Precision = TP / (TP + FP)</a:t>
            </a:r>
          </a:p>
          <a:p>
            <a:r>
              <a:rPr dirty="0"/>
              <a:t>Recall (Sensitivity) = TP / (TP + FN)</a:t>
            </a:r>
          </a:p>
          <a:p>
            <a:r>
              <a:rPr dirty="0"/>
              <a:t>F1 = 2 × (Precision × Recall) / (Precision + Recall)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Ensemble achieved higher accuracy than individual models.</a:t>
            </a:r>
          </a:p>
          <a:p>
            <a:r>
              <a:rPr dirty="0"/>
              <a:t>Significant reduction in false negatives (critical risk cases).</a:t>
            </a:r>
          </a:p>
          <a:p>
            <a:r>
              <a:rPr dirty="0"/>
              <a:t>More stable performance across random splits.</a:t>
            </a:r>
          </a:p>
          <a:p>
            <a:r>
              <a:rPr dirty="0"/>
              <a:t>Best model saved for deployment using </a:t>
            </a:r>
            <a:r>
              <a:rPr dirty="0" err="1"/>
              <a:t>joblib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Results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E775C3-B954-4738-AB0A-F91846089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540" y="1346756"/>
            <a:ext cx="7049080" cy="522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213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813317" cy="1280890"/>
          </a:xfrm>
        </p:spPr>
        <p:txBody>
          <a:bodyPr>
            <a:normAutofit/>
          </a:bodyPr>
          <a:lstStyle/>
          <a:p>
            <a:r>
              <a:rPr sz="3000" b="1" dirty="0"/>
              <a:t>Risk-Based Decision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outputs survival probability, not only class label.</a:t>
            </a:r>
          </a:p>
          <a:p>
            <a:r>
              <a:t>Low probability → high-risk individual.</a:t>
            </a:r>
          </a:p>
          <a:p>
            <a:r>
              <a:t>Thresholds tuned to minimize catastrophic errors.</a:t>
            </a:r>
          </a:p>
          <a:p>
            <a:r>
              <a:t>Supports human-in-the-loop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000" b="1" dirty="0"/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 data ingestion.</a:t>
            </a:r>
          </a:p>
          <a:p>
            <a:r>
              <a:t>Preprocessing &amp; feature engineering.</a:t>
            </a:r>
          </a:p>
          <a:p>
            <a:r>
              <a:t>Ensemble model inference.</a:t>
            </a:r>
          </a:p>
          <a:p>
            <a:r>
              <a:t>Risk-aware decision support output.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9176" y="624110"/>
            <a:ext cx="7360023" cy="1280890"/>
          </a:xfrm>
        </p:spPr>
        <p:txBody>
          <a:bodyPr>
            <a:normAutofit/>
          </a:bodyPr>
          <a:lstStyle/>
          <a:p>
            <a:r>
              <a:rPr sz="3000" b="1" dirty="0"/>
              <a:t>Applications in Safety-Critical Domains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Healthcare: patient survival &amp; triage.</a:t>
            </a:r>
          </a:p>
          <a:p>
            <a:r>
              <a:t>Transportation: accident risk systems.</a:t>
            </a:r>
          </a:p>
          <a:p>
            <a:r>
              <a:t>Disaster management &amp; evacuation planning.</a:t>
            </a:r>
          </a:p>
          <a:p>
            <a:r>
              <a:t>Industrial safety monitoring.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Ensemble ML improves reliability in survival prediction.</a:t>
            </a:r>
          </a:p>
          <a:p>
            <a:r>
              <a:rPr dirty="0"/>
              <a:t>Risk-based probabilities are vital in safety-critical systems.</a:t>
            </a:r>
          </a:p>
          <a:p>
            <a:r>
              <a:rPr dirty="0"/>
              <a:t>Approach balances accuracy, robustness, and interpretability.</a:t>
            </a:r>
          </a:p>
          <a:p>
            <a:r>
              <a:rPr dirty="0"/>
              <a:t>Strong foundation for real-world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</TotalTime>
  <Words>687</Words>
  <Application>Microsoft Office PowerPoint</Application>
  <PresentationFormat>On-screen Show (4:3)</PresentationFormat>
  <Paragraphs>99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Century Gothic</vt:lpstr>
      <vt:lpstr>Courier New</vt:lpstr>
      <vt:lpstr>Wingdings 3</vt:lpstr>
      <vt:lpstr>Wisp</vt:lpstr>
      <vt:lpstr>Ensemble Machine Learning for Risk-Based Survival Prediction</vt:lpstr>
      <vt:lpstr>Motivation &amp; Safety-Critical Context</vt:lpstr>
      <vt:lpstr>Dataset &amp; Case Study</vt:lpstr>
      <vt:lpstr>Code: Data Preprocessing</vt:lpstr>
      <vt:lpstr>Code: Individual Models</vt:lpstr>
      <vt:lpstr>Code: Ensemble (Voting Classifier)</vt:lpstr>
      <vt:lpstr>Mathematical Foundation: Logistic Regression</vt:lpstr>
      <vt:lpstr>Mathematical Foundation</vt:lpstr>
      <vt:lpstr>Mathematical Foundation</vt:lpstr>
      <vt:lpstr>Evaluation Metrics (Risk-Oriented)</vt:lpstr>
      <vt:lpstr>Results</vt:lpstr>
      <vt:lpstr>Results</vt:lpstr>
      <vt:lpstr>Risk-Based Decision Interpretation</vt:lpstr>
      <vt:lpstr>System Architecture Overview</vt:lpstr>
      <vt:lpstr>Applications in Safety-Critical Domains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Ensemble Machine Learning for Risk-Based Survival Prediction</dc:title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2026-01-26T15:44:49Z</dcterms:modified>
  <cp:category/>
</cp:coreProperties>
</file>